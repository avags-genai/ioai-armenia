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Libre Baskerville Bold" charset="1" panose="02000000000000000000"/>
      <p:regular r:id="rId12"/>
    </p:embeddedFont>
    <p:embeddedFont>
      <p:font typeface="Public Sans" charset="1" panose="00000000000000000000"/>
      <p:regular r:id="rId13"/>
    </p:embeddedFont>
    <p:embeddedFont>
      <p:font typeface="Canva Sans" charset="1" panose="020B0503030501040103"/>
      <p:regular r:id="rId14"/>
    </p:embeddedFont>
    <p:embeddedFont>
      <p:font typeface="Libre Baskerville" charset="1" panose="02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1028700" y="2878005"/>
            <a:ext cx="12264783" cy="3660775"/>
          </a:xfrm>
          <a:prstGeom prst="rect">
            <a:avLst/>
          </a:prstGeom>
        </p:spPr>
        <p:txBody>
          <a:bodyPr anchor="t" rtlCol="false" tIns="0" lIns="0" bIns="0" rIns="0">
            <a:spAutoFit/>
          </a:bodyPr>
          <a:lstStyle/>
          <a:p>
            <a:pPr algn="l">
              <a:lnSpc>
                <a:spcPts val="14300"/>
              </a:lnSpc>
            </a:pPr>
            <a:r>
              <a:rPr lang="en-US" b="true" sz="13000" spc="-260">
                <a:solidFill>
                  <a:srgbClr val="F6F2E5"/>
                </a:solidFill>
                <a:latin typeface="Libre Baskerville Bold"/>
                <a:ea typeface="Libre Baskerville Bold"/>
                <a:cs typeface="Libre Baskerville Bold"/>
                <a:sym typeface="Libre Baskerville Bold"/>
              </a:rPr>
              <a:t>PIXEL IOAI SOLUTION</a:t>
            </a:r>
          </a:p>
        </p:txBody>
      </p:sp>
      <p:sp>
        <p:nvSpPr>
          <p:cNvPr name="TextBox 3" id="3"/>
          <p:cNvSpPr txBox="true"/>
          <p:nvPr/>
        </p:nvSpPr>
        <p:spPr>
          <a:xfrm rot="0">
            <a:off x="1028700" y="6919410"/>
            <a:ext cx="7017555" cy="1109345"/>
          </a:xfrm>
          <a:prstGeom prst="rect">
            <a:avLst/>
          </a:prstGeom>
        </p:spPr>
        <p:txBody>
          <a:bodyPr anchor="t" rtlCol="false" tIns="0" lIns="0" bIns="0" rIns="0">
            <a:spAutoFit/>
          </a:bodyPr>
          <a:lstStyle/>
          <a:p>
            <a:pPr algn="l">
              <a:lnSpc>
                <a:spcPts val="4480"/>
              </a:lnSpc>
            </a:pPr>
            <a:r>
              <a:rPr lang="en-US" sz="3200" spc="64">
                <a:solidFill>
                  <a:srgbClr val="F6F2E5"/>
                </a:solidFill>
                <a:latin typeface="Public Sans"/>
                <a:ea typeface="Public Sans"/>
                <a:cs typeface="Public Sans"/>
                <a:sym typeface="Public Sans"/>
              </a:rPr>
              <a:t>code by Shokhjahon Isroilov</a:t>
            </a:r>
          </a:p>
          <a:p>
            <a:pPr algn="l">
              <a:lnSpc>
                <a:spcPts val="4480"/>
              </a:lnSpc>
              <a:spcBef>
                <a:spcPct val="0"/>
              </a:spcBef>
            </a:pPr>
            <a:r>
              <a:rPr lang="en-US" sz="3200" spc="64">
                <a:solidFill>
                  <a:srgbClr val="F6F2E5"/>
                </a:solidFill>
                <a:latin typeface="Public Sans"/>
                <a:ea typeface="Public Sans"/>
                <a:cs typeface="Public Sans"/>
                <a:sym typeface="Public Sans"/>
              </a:rPr>
              <a:t>presentation by Sergo Tovmasyan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2E5"/>
        </a:solidFill>
      </p:bgPr>
    </p:bg>
    <p:spTree>
      <p:nvGrpSpPr>
        <p:cNvPr id="1" name=""/>
        <p:cNvGrpSpPr/>
        <p:nvPr/>
      </p:nvGrpSpPr>
      <p:grpSpPr>
        <a:xfrm>
          <a:off x="0" y="0"/>
          <a:ext cx="0" cy="0"/>
          <a:chOff x="0" y="0"/>
          <a:chExt cx="0" cy="0"/>
        </a:xfrm>
      </p:grpSpPr>
      <p:sp>
        <p:nvSpPr>
          <p:cNvPr name="Freeform 2" id="2"/>
          <p:cNvSpPr/>
          <p:nvPr/>
        </p:nvSpPr>
        <p:spPr>
          <a:xfrm flipH="false" flipV="false" rot="0">
            <a:off x="254406" y="1802994"/>
            <a:ext cx="7440208" cy="8074741"/>
          </a:xfrm>
          <a:custGeom>
            <a:avLst/>
            <a:gdLst/>
            <a:ahLst/>
            <a:cxnLst/>
            <a:rect r="r" b="b" t="t" l="l"/>
            <a:pathLst>
              <a:path h="8074741" w="7440208">
                <a:moveTo>
                  <a:pt x="0" y="0"/>
                </a:moveTo>
                <a:lnTo>
                  <a:pt x="7440208" y="0"/>
                </a:lnTo>
                <a:lnTo>
                  <a:pt x="7440208" y="8074741"/>
                </a:lnTo>
                <a:lnTo>
                  <a:pt x="0" y="8074741"/>
                </a:lnTo>
                <a:lnTo>
                  <a:pt x="0" y="0"/>
                </a:lnTo>
                <a:close/>
              </a:path>
            </a:pathLst>
          </a:custGeom>
          <a:blipFill>
            <a:blip r:embed="rId2"/>
            <a:stretch>
              <a:fillRect l="0" t="0" r="0" b="0"/>
            </a:stretch>
          </a:blipFill>
        </p:spPr>
      </p:sp>
      <p:sp>
        <p:nvSpPr>
          <p:cNvPr name="Freeform 3" id="3"/>
          <p:cNvSpPr/>
          <p:nvPr/>
        </p:nvSpPr>
        <p:spPr>
          <a:xfrm flipH="false" flipV="false" rot="0">
            <a:off x="10114308" y="1802994"/>
            <a:ext cx="7506986" cy="8074741"/>
          </a:xfrm>
          <a:custGeom>
            <a:avLst/>
            <a:gdLst/>
            <a:ahLst/>
            <a:cxnLst/>
            <a:rect r="r" b="b" t="t" l="l"/>
            <a:pathLst>
              <a:path h="8074741" w="7506986">
                <a:moveTo>
                  <a:pt x="0" y="0"/>
                </a:moveTo>
                <a:lnTo>
                  <a:pt x="7506986" y="0"/>
                </a:lnTo>
                <a:lnTo>
                  <a:pt x="7506986" y="8074741"/>
                </a:lnTo>
                <a:lnTo>
                  <a:pt x="0" y="8074741"/>
                </a:lnTo>
                <a:lnTo>
                  <a:pt x="0" y="0"/>
                </a:lnTo>
                <a:close/>
              </a:path>
            </a:pathLst>
          </a:custGeom>
          <a:blipFill>
            <a:blip r:embed="rId3"/>
            <a:stretch>
              <a:fillRect l="0" t="0" r="0" b="0"/>
            </a:stretch>
          </a:blipFill>
        </p:spPr>
      </p:sp>
      <p:grpSp>
        <p:nvGrpSpPr>
          <p:cNvPr name="Group 4" id="4"/>
          <p:cNvGrpSpPr/>
          <p:nvPr/>
        </p:nvGrpSpPr>
        <p:grpSpPr>
          <a:xfrm rot="-10800000">
            <a:off x="8232406" y="5141159"/>
            <a:ext cx="1521091" cy="1398412"/>
            <a:chOff x="0" y="0"/>
            <a:chExt cx="580193" cy="533400"/>
          </a:xfrm>
        </p:grpSpPr>
        <p:sp>
          <p:nvSpPr>
            <p:cNvPr name="Freeform 5" id="5"/>
            <p:cNvSpPr/>
            <p:nvPr/>
          </p:nvSpPr>
          <p:spPr>
            <a:xfrm flipH="false" flipV="false" rot="0">
              <a:off x="0" y="0"/>
              <a:ext cx="580193" cy="533400"/>
            </a:xfrm>
            <a:custGeom>
              <a:avLst/>
              <a:gdLst/>
              <a:ahLst/>
              <a:cxnLst/>
              <a:rect r="r" b="b" t="t" l="l"/>
              <a:pathLst>
                <a:path h="533400" w="580193">
                  <a:moveTo>
                    <a:pt x="239386" y="166418"/>
                  </a:moveTo>
                  <a:lnTo>
                    <a:pt x="580193" y="166418"/>
                  </a:lnTo>
                  <a:lnTo>
                    <a:pt x="580193" y="366942"/>
                  </a:lnTo>
                  <a:lnTo>
                    <a:pt x="239373" y="366942"/>
                  </a:lnTo>
                  <a:lnTo>
                    <a:pt x="302255" y="533400"/>
                  </a:lnTo>
                  <a:lnTo>
                    <a:pt x="0" y="266700"/>
                  </a:lnTo>
                  <a:lnTo>
                    <a:pt x="302255" y="0"/>
                  </a:lnTo>
                  <a:lnTo>
                    <a:pt x="239386" y="166418"/>
                  </a:lnTo>
                  <a:close/>
                </a:path>
              </a:pathLst>
            </a:custGeom>
            <a:solidFill>
              <a:srgbClr val="3B352E"/>
            </a:solidFill>
          </p:spPr>
        </p:sp>
        <p:sp>
          <p:nvSpPr>
            <p:cNvPr name="TextBox 6" id="6"/>
            <p:cNvSpPr txBox="true"/>
            <p:nvPr/>
          </p:nvSpPr>
          <p:spPr>
            <a:xfrm>
              <a:off x="120650" y="127000"/>
              <a:ext cx="459543" cy="24130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6030835" y="355600"/>
            <a:ext cx="12257165" cy="1203325"/>
          </a:xfrm>
          <a:prstGeom prst="rect">
            <a:avLst/>
          </a:prstGeom>
        </p:spPr>
        <p:txBody>
          <a:bodyPr anchor="t" rtlCol="false" tIns="0" lIns="0" bIns="0" rIns="0">
            <a:spAutoFit/>
          </a:bodyPr>
          <a:lstStyle/>
          <a:p>
            <a:pPr algn="l" marL="0" indent="0" lvl="0">
              <a:lnSpc>
                <a:spcPts val="9800"/>
              </a:lnSpc>
            </a:pPr>
            <a:r>
              <a:rPr lang="en-US" b="true" sz="7000">
                <a:solidFill>
                  <a:srgbClr val="3B352E"/>
                </a:solidFill>
                <a:latin typeface="Libre Baskerville Bold"/>
                <a:ea typeface="Libre Baskerville Bold"/>
                <a:cs typeface="Libre Baskerville Bold"/>
                <a:sym typeface="Libre Baskerville Bold"/>
              </a:rPr>
              <a:t>The Task</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2E5"/>
        </a:solidFill>
      </p:bgPr>
    </p:bg>
    <p:spTree>
      <p:nvGrpSpPr>
        <p:cNvPr id="1" name=""/>
        <p:cNvGrpSpPr/>
        <p:nvPr/>
      </p:nvGrpSpPr>
      <p:grpSpPr>
        <a:xfrm>
          <a:off x="0" y="0"/>
          <a:ext cx="0" cy="0"/>
          <a:chOff x="0" y="0"/>
          <a:chExt cx="0" cy="0"/>
        </a:xfrm>
      </p:grpSpPr>
      <p:sp>
        <p:nvSpPr>
          <p:cNvPr name="TextBox 2" id="2"/>
          <p:cNvSpPr txBox="true"/>
          <p:nvPr/>
        </p:nvSpPr>
        <p:spPr>
          <a:xfrm rot="0">
            <a:off x="2547168" y="885825"/>
            <a:ext cx="12839700" cy="1203325"/>
          </a:xfrm>
          <a:prstGeom prst="rect">
            <a:avLst/>
          </a:prstGeom>
        </p:spPr>
        <p:txBody>
          <a:bodyPr anchor="t" rtlCol="false" tIns="0" lIns="0" bIns="0" rIns="0">
            <a:spAutoFit/>
          </a:bodyPr>
          <a:lstStyle/>
          <a:p>
            <a:pPr algn="ctr" marL="0" indent="0" lvl="0">
              <a:lnSpc>
                <a:spcPts val="9800"/>
              </a:lnSpc>
            </a:pPr>
            <a:r>
              <a:rPr lang="en-US" b="true" sz="7000">
                <a:solidFill>
                  <a:srgbClr val="3B352E"/>
                </a:solidFill>
                <a:latin typeface="Libre Baskerville Bold"/>
                <a:ea typeface="Libre Baskerville Bold"/>
                <a:cs typeface="Libre Baskerville Bold"/>
                <a:sym typeface="Libre Baskerville Bold"/>
              </a:rPr>
              <a:t>Main idea of solution</a:t>
            </a:r>
          </a:p>
        </p:txBody>
      </p:sp>
      <p:sp>
        <p:nvSpPr>
          <p:cNvPr name="TextBox 3" id="3"/>
          <p:cNvSpPr txBox="true"/>
          <p:nvPr/>
        </p:nvSpPr>
        <p:spPr>
          <a:xfrm rot="0">
            <a:off x="625190" y="2519732"/>
            <a:ext cx="17662810" cy="7509769"/>
          </a:xfrm>
          <a:prstGeom prst="rect">
            <a:avLst/>
          </a:prstGeom>
        </p:spPr>
        <p:txBody>
          <a:bodyPr anchor="t" rtlCol="false" tIns="0" lIns="0" bIns="0" rIns="0">
            <a:spAutoFit/>
          </a:bodyPr>
          <a:lstStyle/>
          <a:p>
            <a:pPr algn="l" marL="837625" indent="-418813" lvl="1">
              <a:lnSpc>
                <a:spcPts val="5431"/>
              </a:lnSpc>
              <a:buAutoNum type="arabicPeriod" startAt="1"/>
            </a:pPr>
            <a:r>
              <a:rPr lang="en-US" sz="3879">
                <a:solidFill>
                  <a:srgbClr val="3B352E"/>
                </a:solidFill>
                <a:latin typeface="Canva Sans"/>
                <a:ea typeface="Canva Sans"/>
                <a:cs typeface="Canva Sans"/>
                <a:sym typeface="Canva Sans"/>
              </a:rPr>
              <a:t>we wanna get the best tuple of coordinates</a:t>
            </a:r>
          </a:p>
          <a:p>
            <a:pPr algn="l" marL="837625" indent="-418813" lvl="1">
              <a:lnSpc>
                <a:spcPts val="5431"/>
              </a:lnSpc>
              <a:buAutoNum type="arabicPeriod" startAt="1"/>
            </a:pPr>
            <a:r>
              <a:rPr lang="en-US" sz="3879">
                <a:solidFill>
                  <a:srgbClr val="3B352E"/>
                </a:solidFill>
                <a:latin typeface="Canva Sans"/>
                <a:ea typeface="Canva Sans"/>
                <a:cs typeface="Canva Sans"/>
                <a:sym typeface="Canva Sans"/>
              </a:rPr>
              <a:t>to find those cooridnates we need to find the part of image that contaies the most usefull information for true classification</a:t>
            </a:r>
          </a:p>
          <a:p>
            <a:pPr algn="l" marL="837625" indent="-418813" lvl="1">
              <a:lnSpc>
                <a:spcPts val="5431"/>
              </a:lnSpc>
              <a:buAutoNum type="arabicPeriod" startAt="1"/>
            </a:pPr>
            <a:r>
              <a:rPr lang="en-US" sz="3879">
                <a:solidFill>
                  <a:srgbClr val="3B352E"/>
                </a:solidFill>
                <a:latin typeface="Canva Sans"/>
                <a:ea typeface="Canva Sans"/>
                <a:cs typeface="Canva Sans"/>
                <a:sym typeface="Canva Sans"/>
              </a:rPr>
              <a:t>to find the best “window” we check 16 different tuple of coordinates</a:t>
            </a:r>
          </a:p>
          <a:p>
            <a:pPr algn="l" marL="837625" indent="-418813" lvl="1">
              <a:lnSpc>
                <a:spcPts val="5431"/>
              </a:lnSpc>
              <a:buAutoNum type="arabicPeriod" startAt="1"/>
            </a:pPr>
            <a:r>
              <a:rPr lang="en-US" sz="3879">
                <a:solidFill>
                  <a:srgbClr val="3B352E"/>
                </a:solidFill>
                <a:latin typeface="Canva Sans"/>
                <a:ea typeface="Canva Sans"/>
                <a:cs typeface="Canva Sans"/>
                <a:sym typeface="Canva Sans"/>
              </a:rPr>
              <a:t>for each tuple(coordinates) we calculate 2 metrics → distance from centere and variance</a:t>
            </a:r>
          </a:p>
          <a:p>
            <a:pPr algn="l" marL="837625" indent="-418813" lvl="1">
              <a:lnSpc>
                <a:spcPts val="5431"/>
              </a:lnSpc>
              <a:buAutoNum type="arabicPeriod" startAt="1"/>
            </a:pPr>
            <a:r>
              <a:rPr lang="en-US" sz="3879">
                <a:solidFill>
                  <a:srgbClr val="3B352E"/>
                </a:solidFill>
                <a:latin typeface="Canva Sans"/>
                <a:ea typeface="Canva Sans"/>
                <a:cs typeface="Canva Sans"/>
                <a:sym typeface="Canva Sans"/>
              </a:rPr>
              <a:t>the best part is the one, who’s variance value is big and who’s distance from center is small</a:t>
            </a:r>
          </a:p>
          <a:p>
            <a:pPr algn="l" marL="837625" indent="-418813" lvl="1">
              <a:lnSpc>
                <a:spcPts val="5431"/>
              </a:lnSpc>
              <a:buAutoNum type="arabicPeriod" startAt="1"/>
            </a:pPr>
            <a:r>
              <a:rPr lang="en-US" sz="3879">
                <a:solidFill>
                  <a:srgbClr val="3B352E"/>
                </a:solidFill>
                <a:latin typeface="Canva Sans"/>
                <a:ea typeface="Canva Sans"/>
                <a:cs typeface="Canva Sans"/>
                <a:sym typeface="Canva Sans"/>
              </a:rPr>
              <a:t>now we need to check, does model give us the same class for best part, if yes -&gt; cool, we found it, if no → that means that the most informativ part is the center of image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2E5"/>
        </a:solidFill>
      </p:bgPr>
    </p:bg>
    <p:spTree>
      <p:nvGrpSpPr>
        <p:cNvPr id="1" name=""/>
        <p:cNvGrpSpPr/>
        <p:nvPr/>
      </p:nvGrpSpPr>
      <p:grpSpPr>
        <a:xfrm>
          <a:off x="0" y="0"/>
          <a:ext cx="0" cy="0"/>
          <a:chOff x="0" y="0"/>
          <a:chExt cx="0" cy="0"/>
        </a:xfrm>
      </p:grpSpPr>
      <p:sp>
        <p:nvSpPr>
          <p:cNvPr name="TextBox 2" id="2"/>
          <p:cNvSpPr txBox="true"/>
          <p:nvPr/>
        </p:nvSpPr>
        <p:spPr>
          <a:xfrm rot="0">
            <a:off x="4998953" y="108327"/>
            <a:ext cx="7672546" cy="1203325"/>
          </a:xfrm>
          <a:prstGeom prst="rect">
            <a:avLst/>
          </a:prstGeom>
        </p:spPr>
        <p:txBody>
          <a:bodyPr anchor="t" rtlCol="false" tIns="0" lIns="0" bIns="0" rIns="0">
            <a:spAutoFit/>
          </a:bodyPr>
          <a:lstStyle/>
          <a:p>
            <a:pPr algn="l" marL="0" indent="0" lvl="0">
              <a:lnSpc>
                <a:spcPts val="9800"/>
              </a:lnSpc>
            </a:pPr>
            <a:r>
              <a:rPr lang="en-US" b="true" sz="7000">
                <a:solidFill>
                  <a:srgbClr val="3B352E"/>
                </a:solidFill>
                <a:latin typeface="Libre Baskerville Bold"/>
                <a:ea typeface="Libre Baskerville Bold"/>
                <a:cs typeface="Libre Baskerville Bold"/>
                <a:sym typeface="Libre Baskerville Bold"/>
              </a:rPr>
              <a:t>main functions</a:t>
            </a:r>
          </a:p>
        </p:txBody>
      </p:sp>
      <p:sp>
        <p:nvSpPr>
          <p:cNvPr name="TextBox 3" id="3"/>
          <p:cNvSpPr txBox="true"/>
          <p:nvPr/>
        </p:nvSpPr>
        <p:spPr>
          <a:xfrm rot="0">
            <a:off x="3534827" y="2957316"/>
            <a:ext cx="3437421" cy="537845"/>
          </a:xfrm>
          <a:prstGeom prst="rect">
            <a:avLst/>
          </a:prstGeom>
        </p:spPr>
        <p:txBody>
          <a:bodyPr anchor="t" rtlCol="false" tIns="0" lIns="0" bIns="0" rIns="0">
            <a:spAutoFit/>
          </a:bodyPr>
          <a:lstStyle/>
          <a:p>
            <a:pPr algn="l">
              <a:lnSpc>
                <a:spcPts val="4480"/>
              </a:lnSpc>
              <a:spcBef>
                <a:spcPct val="0"/>
              </a:spcBef>
            </a:pPr>
            <a:r>
              <a:rPr lang="en-US" sz="3200" b="true">
                <a:solidFill>
                  <a:srgbClr val="3B352E"/>
                </a:solidFill>
                <a:latin typeface="Libre Baskerville Bold"/>
                <a:ea typeface="Libre Baskerville Bold"/>
                <a:cs typeface="Libre Baskerville Bold"/>
                <a:sym typeface="Libre Baskerville Bold"/>
              </a:rPr>
              <a:t>spatial_priority</a:t>
            </a:r>
          </a:p>
        </p:txBody>
      </p:sp>
      <p:sp>
        <p:nvSpPr>
          <p:cNvPr name="TextBox 4" id="4"/>
          <p:cNvSpPr txBox="true"/>
          <p:nvPr/>
        </p:nvSpPr>
        <p:spPr>
          <a:xfrm rot="0">
            <a:off x="7391349" y="3037326"/>
            <a:ext cx="8083186" cy="915035"/>
          </a:xfrm>
          <a:prstGeom prst="rect">
            <a:avLst/>
          </a:prstGeom>
        </p:spPr>
        <p:txBody>
          <a:bodyPr anchor="t" rtlCol="false" tIns="0" lIns="0" bIns="0" rIns="0">
            <a:spAutoFit/>
          </a:bodyPr>
          <a:lstStyle/>
          <a:p>
            <a:pPr algn="l" marL="0" indent="0" lvl="0">
              <a:lnSpc>
                <a:spcPts val="3640"/>
              </a:lnSpc>
            </a:pPr>
            <a:r>
              <a:rPr lang="en-US" sz="2600">
                <a:solidFill>
                  <a:srgbClr val="3B352E"/>
                </a:solidFill>
                <a:latin typeface="Public Sans"/>
                <a:ea typeface="Public Sans"/>
                <a:cs typeface="Public Sans"/>
                <a:sym typeface="Public Sans"/>
              </a:rPr>
              <a:t>calculate the distance between center of coords and returns the  distance * (-1)</a:t>
            </a:r>
          </a:p>
        </p:txBody>
      </p:sp>
      <p:grpSp>
        <p:nvGrpSpPr>
          <p:cNvPr name="Group 5" id="5"/>
          <p:cNvGrpSpPr/>
          <p:nvPr/>
        </p:nvGrpSpPr>
        <p:grpSpPr>
          <a:xfrm rot="0">
            <a:off x="1313652" y="2352665"/>
            <a:ext cx="1804296" cy="1804296"/>
            <a:chOff x="0" y="0"/>
            <a:chExt cx="2405728" cy="2405728"/>
          </a:xfrm>
        </p:grpSpPr>
        <p:grpSp>
          <p:nvGrpSpPr>
            <p:cNvPr name="Group 6" id="6"/>
            <p:cNvGrpSpPr/>
            <p:nvPr/>
          </p:nvGrpSpPr>
          <p:grpSpPr>
            <a:xfrm rot="0">
              <a:off x="0" y="0"/>
              <a:ext cx="2405728" cy="2405728"/>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B352E">
                  <a:alpha val="4706"/>
                </a:srgbClr>
              </a:solidFill>
            </p:spPr>
          </p:sp>
        </p:grpSp>
        <p:sp>
          <p:nvSpPr>
            <p:cNvPr name="Freeform 8" id="8"/>
            <p:cNvSpPr/>
            <p:nvPr/>
          </p:nvSpPr>
          <p:spPr>
            <a:xfrm flipH="false" flipV="false" rot="0">
              <a:off x="812585" y="812585"/>
              <a:ext cx="780558" cy="780558"/>
            </a:xfrm>
            <a:custGeom>
              <a:avLst/>
              <a:gdLst/>
              <a:ahLst/>
              <a:cxnLst/>
              <a:rect r="r" b="b" t="t" l="l"/>
              <a:pathLst>
                <a:path h="780558" w="780558">
                  <a:moveTo>
                    <a:pt x="0" y="0"/>
                  </a:moveTo>
                  <a:lnTo>
                    <a:pt x="780558" y="0"/>
                  </a:lnTo>
                  <a:lnTo>
                    <a:pt x="780558" y="780558"/>
                  </a:lnTo>
                  <a:lnTo>
                    <a:pt x="0" y="780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313652" y="4371965"/>
            <a:ext cx="1804296" cy="1804296"/>
            <a:chOff x="0" y="0"/>
            <a:chExt cx="2405728" cy="2405728"/>
          </a:xfrm>
        </p:grpSpPr>
        <p:grpSp>
          <p:nvGrpSpPr>
            <p:cNvPr name="Group 10" id="10"/>
            <p:cNvGrpSpPr/>
            <p:nvPr/>
          </p:nvGrpSpPr>
          <p:grpSpPr>
            <a:xfrm rot="0">
              <a:off x="0" y="0"/>
              <a:ext cx="2405728" cy="2405728"/>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B352E">
                  <a:alpha val="4706"/>
                </a:srgbClr>
              </a:solidFill>
            </p:spPr>
          </p:sp>
        </p:grpSp>
        <p:sp>
          <p:nvSpPr>
            <p:cNvPr name="Freeform 12" id="12"/>
            <p:cNvSpPr/>
            <p:nvPr/>
          </p:nvSpPr>
          <p:spPr>
            <a:xfrm flipH="false" flipV="false" rot="0">
              <a:off x="812585" y="812585"/>
              <a:ext cx="780558" cy="780558"/>
            </a:xfrm>
            <a:custGeom>
              <a:avLst/>
              <a:gdLst/>
              <a:ahLst/>
              <a:cxnLst/>
              <a:rect r="r" b="b" t="t" l="l"/>
              <a:pathLst>
                <a:path h="780558" w="780558">
                  <a:moveTo>
                    <a:pt x="0" y="0"/>
                  </a:moveTo>
                  <a:lnTo>
                    <a:pt x="780558" y="0"/>
                  </a:lnTo>
                  <a:lnTo>
                    <a:pt x="780558" y="780558"/>
                  </a:lnTo>
                  <a:lnTo>
                    <a:pt x="0" y="780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3" id="13"/>
          <p:cNvSpPr txBox="true"/>
          <p:nvPr/>
        </p:nvSpPr>
        <p:spPr>
          <a:xfrm rot="0">
            <a:off x="3534827" y="4976616"/>
            <a:ext cx="3437421" cy="537845"/>
          </a:xfrm>
          <a:prstGeom prst="rect">
            <a:avLst/>
          </a:prstGeom>
        </p:spPr>
        <p:txBody>
          <a:bodyPr anchor="t" rtlCol="false" tIns="0" lIns="0" bIns="0" rIns="0">
            <a:spAutoFit/>
          </a:bodyPr>
          <a:lstStyle/>
          <a:p>
            <a:pPr algn="l">
              <a:lnSpc>
                <a:spcPts val="4480"/>
              </a:lnSpc>
              <a:spcBef>
                <a:spcPct val="0"/>
              </a:spcBef>
            </a:pPr>
            <a:r>
              <a:rPr lang="en-US" sz="3200" b="true">
                <a:solidFill>
                  <a:srgbClr val="3B352E"/>
                </a:solidFill>
                <a:latin typeface="Libre Baskerville Bold"/>
                <a:ea typeface="Libre Baskerville Bold"/>
                <a:cs typeface="Libre Baskerville Bold"/>
                <a:sym typeface="Libre Baskerville Bold"/>
              </a:rPr>
              <a:t>tile_varience</a:t>
            </a:r>
          </a:p>
        </p:txBody>
      </p:sp>
      <p:sp>
        <p:nvSpPr>
          <p:cNvPr name="TextBox 14" id="14"/>
          <p:cNvSpPr txBox="true"/>
          <p:nvPr/>
        </p:nvSpPr>
        <p:spPr>
          <a:xfrm rot="0">
            <a:off x="7391349" y="4783258"/>
            <a:ext cx="8083186" cy="915035"/>
          </a:xfrm>
          <a:prstGeom prst="rect">
            <a:avLst/>
          </a:prstGeom>
        </p:spPr>
        <p:txBody>
          <a:bodyPr anchor="t" rtlCol="false" tIns="0" lIns="0" bIns="0" rIns="0">
            <a:spAutoFit/>
          </a:bodyPr>
          <a:lstStyle/>
          <a:p>
            <a:pPr algn="l" marL="0" indent="0" lvl="0">
              <a:lnSpc>
                <a:spcPts val="3640"/>
              </a:lnSpc>
            </a:pPr>
            <a:r>
              <a:rPr lang="en-US" sz="2600">
                <a:solidFill>
                  <a:srgbClr val="3B352E"/>
                </a:solidFill>
                <a:latin typeface="Public Sans"/>
                <a:ea typeface="Public Sans"/>
                <a:cs typeface="Public Sans"/>
                <a:sym typeface="Public Sans"/>
              </a:rPr>
              <a:t>calculates the variance of croped image, returns variance</a:t>
            </a:r>
          </a:p>
        </p:txBody>
      </p:sp>
      <p:grpSp>
        <p:nvGrpSpPr>
          <p:cNvPr name="Group 15" id="15"/>
          <p:cNvGrpSpPr/>
          <p:nvPr/>
        </p:nvGrpSpPr>
        <p:grpSpPr>
          <a:xfrm rot="0">
            <a:off x="1313652" y="6395336"/>
            <a:ext cx="1804296" cy="1804296"/>
            <a:chOff x="0" y="0"/>
            <a:chExt cx="2405728" cy="2405728"/>
          </a:xfrm>
        </p:grpSpPr>
        <p:grpSp>
          <p:nvGrpSpPr>
            <p:cNvPr name="Group 16" id="16"/>
            <p:cNvGrpSpPr/>
            <p:nvPr/>
          </p:nvGrpSpPr>
          <p:grpSpPr>
            <a:xfrm rot="0">
              <a:off x="0" y="0"/>
              <a:ext cx="2405728" cy="2405728"/>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B352E">
                  <a:alpha val="4706"/>
                </a:srgbClr>
              </a:solidFill>
            </p:spPr>
          </p:sp>
        </p:grpSp>
        <p:sp>
          <p:nvSpPr>
            <p:cNvPr name="Freeform 18" id="18"/>
            <p:cNvSpPr/>
            <p:nvPr/>
          </p:nvSpPr>
          <p:spPr>
            <a:xfrm flipH="false" flipV="false" rot="0">
              <a:off x="812585" y="812585"/>
              <a:ext cx="780558" cy="780558"/>
            </a:xfrm>
            <a:custGeom>
              <a:avLst/>
              <a:gdLst/>
              <a:ahLst/>
              <a:cxnLst/>
              <a:rect r="r" b="b" t="t" l="l"/>
              <a:pathLst>
                <a:path h="780558" w="780558">
                  <a:moveTo>
                    <a:pt x="0" y="0"/>
                  </a:moveTo>
                  <a:lnTo>
                    <a:pt x="780558" y="0"/>
                  </a:lnTo>
                  <a:lnTo>
                    <a:pt x="780558" y="780558"/>
                  </a:lnTo>
                  <a:lnTo>
                    <a:pt x="0" y="780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9" id="19"/>
          <p:cNvSpPr txBox="true"/>
          <p:nvPr/>
        </p:nvSpPr>
        <p:spPr>
          <a:xfrm rot="0">
            <a:off x="3534827" y="7872069"/>
            <a:ext cx="13016546" cy="2286635"/>
          </a:xfrm>
          <a:prstGeom prst="rect">
            <a:avLst/>
          </a:prstGeom>
        </p:spPr>
        <p:txBody>
          <a:bodyPr anchor="t" rtlCol="false" tIns="0" lIns="0" bIns="0" rIns="0">
            <a:spAutoFit/>
          </a:bodyPr>
          <a:lstStyle/>
          <a:p>
            <a:pPr algn="l" marL="0" indent="0" lvl="0">
              <a:lnSpc>
                <a:spcPts val="3640"/>
              </a:lnSpc>
            </a:pPr>
            <a:r>
              <a:rPr lang="en-US" sz="2600">
                <a:solidFill>
                  <a:srgbClr val="3B352E"/>
                </a:solidFill>
                <a:latin typeface="Public Sans"/>
                <a:ea typeface="Public Sans"/>
                <a:cs typeface="Public Sans"/>
                <a:sym typeface="Public Sans"/>
              </a:rPr>
              <a:t>sliding window to cretae list of croped images coordinates, then calculates spatial_priority and tile_variance for each and sort elements by them(from high to low) then takes every element from that list and get predicted label, if predicted label is equal to true label, returns coordinates of the crop, if there is no such a crop, returns coordinates of center</a:t>
            </a:r>
          </a:p>
        </p:txBody>
      </p:sp>
      <p:sp>
        <p:nvSpPr>
          <p:cNvPr name="TextBox 20" id="20"/>
          <p:cNvSpPr txBox="true"/>
          <p:nvPr/>
        </p:nvSpPr>
        <p:spPr>
          <a:xfrm rot="0">
            <a:off x="3452521" y="6933303"/>
            <a:ext cx="7039456" cy="652162"/>
          </a:xfrm>
          <a:prstGeom prst="rect">
            <a:avLst/>
          </a:prstGeom>
        </p:spPr>
        <p:txBody>
          <a:bodyPr anchor="t" rtlCol="false" tIns="0" lIns="0" bIns="0" rIns="0">
            <a:spAutoFit/>
          </a:bodyPr>
          <a:lstStyle/>
          <a:p>
            <a:pPr algn="ctr">
              <a:lnSpc>
                <a:spcPts val="5322"/>
              </a:lnSpc>
              <a:spcBef>
                <a:spcPct val="0"/>
              </a:spcBef>
            </a:pPr>
            <a:r>
              <a:rPr lang="en-US" b="true" sz="3801">
                <a:solidFill>
                  <a:srgbClr val="3B352E"/>
                </a:solidFill>
                <a:latin typeface="Libre Baskerville Bold"/>
                <a:ea typeface="Libre Baskerville Bold"/>
                <a:cs typeface="Libre Baskerville Bold"/>
                <a:sym typeface="Libre Baskerville Bold"/>
              </a:rPr>
              <a:t>generate_crop_coordinates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3B352E"/>
        </a:solidFill>
      </p:bgPr>
    </p:bg>
    <p:spTree>
      <p:nvGrpSpPr>
        <p:cNvPr id="1" name=""/>
        <p:cNvGrpSpPr/>
        <p:nvPr/>
      </p:nvGrpSpPr>
      <p:grpSpPr>
        <a:xfrm>
          <a:off x="0" y="0"/>
          <a:ext cx="0" cy="0"/>
          <a:chOff x="0" y="0"/>
          <a:chExt cx="0" cy="0"/>
        </a:xfrm>
      </p:grpSpPr>
      <p:sp>
        <p:nvSpPr>
          <p:cNvPr name="TextBox 2" id="2"/>
          <p:cNvSpPr txBox="true"/>
          <p:nvPr/>
        </p:nvSpPr>
        <p:spPr>
          <a:xfrm rot="0">
            <a:off x="630492" y="832961"/>
            <a:ext cx="6151579" cy="1193800"/>
          </a:xfrm>
          <a:prstGeom prst="rect">
            <a:avLst/>
          </a:prstGeom>
        </p:spPr>
        <p:txBody>
          <a:bodyPr anchor="t" rtlCol="false" tIns="0" lIns="0" bIns="0" rIns="0">
            <a:spAutoFit/>
          </a:bodyPr>
          <a:lstStyle/>
          <a:p>
            <a:pPr algn="l" marL="0" indent="0" lvl="0">
              <a:lnSpc>
                <a:spcPts val="9799"/>
              </a:lnSpc>
            </a:pPr>
            <a:r>
              <a:rPr lang="en-US" b="true" sz="6999">
                <a:solidFill>
                  <a:srgbClr val="F6F2E5"/>
                </a:solidFill>
                <a:latin typeface="Libre Baskerville Bold"/>
                <a:ea typeface="Libre Baskerville Bold"/>
                <a:cs typeface="Libre Baskerville Bold"/>
                <a:sym typeface="Libre Baskerville Bold"/>
              </a:rPr>
              <a:t>how it works</a:t>
            </a:r>
          </a:p>
        </p:txBody>
      </p:sp>
      <p:sp>
        <p:nvSpPr>
          <p:cNvPr name="TextBox 3" id="3"/>
          <p:cNvSpPr txBox="true"/>
          <p:nvPr/>
        </p:nvSpPr>
        <p:spPr>
          <a:xfrm rot="0">
            <a:off x="9144000" y="678021"/>
            <a:ext cx="3014635" cy="976630"/>
          </a:xfrm>
          <a:prstGeom prst="rect">
            <a:avLst/>
          </a:prstGeom>
        </p:spPr>
        <p:txBody>
          <a:bodyPr anchor="t" rtlCol="false" tIns="0" lIns="0" bIns="0" rIns="0">
            <a:spAutoFit/>
          </a:bodyPr>
          <a:lstStyle/>
          <a:p>
            <a:pPr algn="l">
              <a:lnSpc>
                <a:spcPts val="3919"/>
              </a:lnSpc>
              <a:spcBef>
                <a:spcPct val="0"/>
              </a:spcBef>
            </a:pPr>
            <a:r>
              <a:rPr lang="en-US" b="true" sz="2800">
                <a:solidFill>
                  <a:srgbClr val="F6F2E5"/>
                </a:solidFill>
                <a:latin typeface="Libre Baskerville Bold"/>
                <a:ea typeface="Libre Baskerville Bold"/>
                <a:cs typeface="Libre Baskerville Bold"/>
                <a:sym typeface="Libre Baskerville Bold"/>
              </a:rPr>
              <a:t>Spatial priority and varience</a:t>
            </a:r>
          </a:p>
        </p:txBody>
      </p:sp>
      <p:sp>
        <p:nvSpPr>
          <p:cNvPr name="TextBox 4" id="4"/>
          <p:cNvSpPr txBox="true"/>
          <p:nvPr/>
        </p:nvSpPr>
        <p:spPr>
          <a:xfrm rot="0">
            <a:off x="8104234" y="1629605"/>
            <a:ext cx="4054401" cy="2743835"/>
          </a:xfrm>
          <a:prstGeom prst="rect">
            <a:avLst/>
          </a:prstGeom>
        </p:spPr>
        <p:txBody>
          <a:bodyPr anchor="t" rtlCol="false" tIns="0" lIns="0" bIns="0" rIns="0">
            <a:spAutoFit/>
          </a:bodyPr>
          <a:lstStyle/>
          <a:p>
            <a:pPr algn="l" marL="0" indent="0" lvl="0">
              <a:lnSpc>
                <a:spcPts val="3640"/>
              </a:lnSpc>
            </a:pPr>
            <a:r>
              <a:rPr lang="en-US" sz="2600">
                <a:solidFill>
                  <a:srgbClr val="F6F2E5"/>
                </a:solidFill>
                <a:latin typeface="Public Sans"/>
                <a:ea typeface="Public Sans"/>
                <a:cs typeface="Public Sans"/>
                <a:sym typeface="Public Sans"/>
              </a:rPr>
              <a:t>if special priority value is high -&gt; croped part is close to center, and if variance is high, that means → posibility that animal is there is high</a:t>
            </a:r>
          </a:p>
        </p:txBody>
      </p:sp>
      <p:sp>
        <p:nvSpPr>
          <p:cNvPr name="TextBox 5" id="5"/>
          <p:cNvSpPr txBox="true"/>
          <p:nvPr/>
        </p:nvSpPr>
        <p:spPr>
          <a:xfrm rot="0">
            <a:off x="8305800" y="714375"/>
            <a:ext cx="4054401" cy="61912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01</a:t>
            </a:r>
          </a:p>
        </p:txBody>
      </p:sp>
      <p:sp>
        <p:nvSpPr>
          <p:cNvPr name="TextBox 6" id="6"/>
          <p:cNvSpPr txBox="true"/>
          <p:nvPr/>
        </p:nvSpPr>
        <p:spPr>
          <a:xfrm rot="0">
            <a:off x="8458197" y="4990147"/>
            <a:ext cx="3346475" cy="976630"/>
          </a:xfrm>
          <a:prstGeom prst="rect">
            <a:avLst/>
          </a:prstGeom>
        </p:spPr>
        <p:txBody>
          <a:bodyPr anchor="t" rtlCol="false" tIns="0" lIns="0" bIns="0" rIns="0">
            <a:spAutoFit/>
          </a:bodyPr>
          <a:lstStyle/>
          <a:p>
            <a:pPr algn="l" marL="0" indent="0" lvl="0">
              <a:lnSpc>
                <a:spcPts val="3919"/>
              </a:lnSpc>
              <a:spcBef>
                <a:spcPct val="0"/>
              </a:spcBef>
            </a:pPr>
            <a:r>
              <a:rPr lang="en-US" b="true" sz="2800">
                <a:solidFill>
                  <a:srgbClr val="F6F2E5"/>
                </a:solidFill>
                <a:latin typeface="Libre Baskerville Bold"/>
                <a:ea typeface="Libre Baskerville Bold"/>
                <a:cs typeface="Libre Baskerville Bold"/>
                <a:sym typeface="Libre Baskerville Bold"/>
              </a:rPr>
              <a:t>prediction and true label</a:t>
            </a:r>
          </a:p>
        </p:txBody>
      </p:sp>
      <p:sp>
        <p:nvSpPr>
          <p:cNvPr name="TextBox 7" id="7"/>
          <p:cNvSpPr txBox="true"/>
          <p:nvPr/>
        </p:nvSpPr>
        <p:spPr>
          <a:xfrm rot="0">
            <a:off x="7597874" y="6201728"/>
            <a:ext cx="4054401" cy="3201035"/>
          </a:xfrm>
          <a:prstGeom prst="rect">
            <a:avLst/>
          </a:prstGeom>
        </p:spPr>
        <p:txBody>
          <a:bodyPr anchor="t" rtlCol="false" tIns="0" lIns="0" bIns="0" rIns="0">
            <a:spAutoFit/>
          </a:bodyPr>
          <a:lstStyle/>
          <a:p>
            <a:pPr algn="l" marL="0" indent="0" lvl="0">
              <a:lnSpc>
                <a:spcPts val="3640"/>
              </a:lnSpc>
            </a:pPr>
            <a:r>
              <a:rPr lang="en-US" sz="2600">
                <a:solidFill>
                  <a:srgbClr val="F6F2E5"/>
                </a:solidFill>
                <a:latin typeface="Public Sans"/>
                <a:ea typeface="Public Sans"/>
                <a:cs typeface="Public Sans"/>
                <a:sym typeface="Public Sans"/>
              </a:rPr>
              <a:t>now we take elements of list and get their true labels, and take clip prediction for this crop → if they are equal that is it, if not → we try another element</a:t>
            </a:r>
          </a:p>
        </p:txBody>
      </p:sp>
      <p:sp>
        <p:nvSpPr>
          <p:cNvPr name="TextBox 8" id="8"/>
          <p:cNvSpPr txBox="true"/>
          <p:nvPr/>
        </p:nvSpPr>
        <p:spPr>
          <a:xfrm rot="0">
            <a:off x="7597874" y="5133975"/>
            <a:ext cx="4054401" cy="61912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03</a:t>
            </a:r>
          </a:p>
        </p:txBody>
      </p:sp>
      <p:sp>
        <p:nvSpPr>
          <p:cNvPr name="TextBox 9" id="9"/>
          <p:cNvSpPr txBox="true"/>
          <p:nvPr/>
        </p:nvSpPr>
        <p:spPr>
          <a:xfrm rot="0">
            <a:off x="13746905" y="666750"/>
            <a:ext cx="2970389" cy="976630"/>
          </a:xfrm>
          <a:prstGeom prst="rect">
            <a:avLst/>
          </a:prstGeom>
        </p:spPr>
        <p:txBody>
          <a:bodyPr anchor="t" rtlCol="false" tIns="0" lIns="0" bIns="0" rIns="0">
            <a:spAutoFit/>
          </a:bodyPr>
          <a:lstStyle/>
          <a:p>
            <a:pPr algn="l" marL="0" indent="0" lvl="0">
              <a:lnSpc>
                <a:spcPts val="3919"/>
              </a:lnSpc>
              <a:spcBef>
                <a:spcPct val="0"/>
              </a:spcBef>
            </a:pPr>
            <a:r>
              <a:rPr lang="en-US" b="true" sz="2800">
                <a:solidFill>
                  <a:srgbClr val="F6F2E5"/>
                </a:solidFill>
                <a:latin typeface="Libre Baskerville Bold"/>
                <a:ea typeface="Libre Baskerville Bold"/>
                <a:cs typeface="Libre Baskerville Bold"/>
                <a:sym typeface="Libre Baskerville Bold"/>
              </a:rPr>
              <a:t>sorting the list of coordinates</a:t>
            </a:r>
          </a:p>
        </p:txBody>
      </p:sp>
      <p:sp>
        <p:nvSpPr>
          <p:cNvPr name="TextBox 10" id="10"/>
          <p:cNvSpPr txBox="true"/>
          <p:nvPr/>
        </p:nvSpPr>
        <p:spPr>
          <a:xfrm rot="0">
            <a:off x="13005795" y="1629605"/>
            <a:ext cx="4054401" cy="3658235"/>
          </a:xfrm>
          <a:prstGeom prst="rect">
            <a:avLst/>
          </a:prstGeom>
        </p:spPr>
        <p:txBody>
          <a:bodyPr anchor="t" rtlCol="false" tIns="0" lIns="0" bIns="0" rIns="0">
            <a:spAutoFit/>
          </a:bodyPr>
          <a:lstStyle/>
          <a:p>
            <a:pPr algn="l" marL="0" indent="0" lvl="0">
              <a:lnSpc>
                <a:spcPts val="3640"/>
              </a:lnSpc>
            </a:pPr>
            <a:r>
              <a:rPr lang="en-US" sz="2600">
                <a:solidFill>
                  <a:srgbClr val="F6F2E5"/>
                </a:solidFill>
                <a:latin typeface="Public Sans"/>
                <a:ea typeface="Public Sans"/>
                <a:cs typeface="Public Sans"/>
                <a:sym typeface="Public Sans"/>
              </a:rPr>
              <a:t>we wanna find best part as soon as possible, for this we must sort our list of coordinates, if var is high and spatial priority is high → than it is probably the best crop, and we need to take him first</a:t>
            </a:r>
          </a:p>
        </p:txBody>
      </p:sp>
      <p:sp>
        <p:nvSpPr>
          <p:cNvPr name="TextBox 11" id="11"/>
          <p:cNvSpPr txBox="true"/>
          <p:nvPr/>
        </p:nvSpPr>
        <p:spPr>
          <a:xfrm rot="0">
            <a:off x="12800189" y="720725"/>
            <a:ext cx="4054401" cy="61277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02</a:t>
            </a:r>
          </a:p>
        </p:txBody>
      </p:sp>
      <p:sp>
        <p:nvSpPr>
          <p:cNvPr name="TextBox 12" id="12"/>
          <p:cNvSpPr txBox="true"/>
          <p:nvPr/>
        </p:nvSpPr>
        <p:spPr>
          <a:xfrm rot="0">
            <a:off x="13569923" y="5592640"/>
            <a:ext cx="3324352" cy="976630"/>
          </a:xfrm>
          <a:prstGeom prst="rect">
            <a:avLst/>
          </a:prstGeom>
        </p:spPr>
        <p:txBody>
          <a:bodyPr anchor="t" rtlCol="false" tIns="0" lIns="0" bIns="0" rIns="0">
            <a:spAutoFit/>
          </a:bodyPr>
          <a:lstStyle/>
          <a:p>
            <a:pPr algn="l" marL="0" indent="0" lvl="0">
              <a:lnSpc>
                <a:spcPts val="3919"/>
              </a:lnSpc>
              <a:spcBef>
                <a:spcPct val="0"/>
              </a:spcBef>
            </a:pPr>
            <a:r>
              <a:rPr lang="en-US" b="true" sz="2800">
                <a:solidFill>
                  <a:srgbClr val="F6F2E5"/>
                </a:solidFill>
                <a:latin typeface="Libre Baskerville Bold"/>
                <a:ea typeface="Libre Baskerville Bold"/>
                <a:cs typeface="Libre Baskerville Bold"/>
                <a:sym typeface="Libre Baskerville Bold"/>
              </a:rPr>
              <a:t>what if there is no good crop?</a:t>
            </a:r>
          </a:p>
        </p:txBody>
      </p:sp>
      <p:sp>
        <p:nvSpPr>
          <p:cNvPr name="TextBox 13" id="13"/>
          <p:cNvSpPr txBox="true"/>
          <p:nvPr/>
        </p:nvSpPr>
        <p:spPr>
          <a:xfrm rot="0">
            <a:off x="12839875" y="6864545"/>
            <a:ext cx="4054401" cy="1829435"/>
          </a:xfrm>
          <a:prstGeom prst="rect">
            <a:avLst/>
          </a:prstGeom>
        </p:spPr>
        <p:txBody>
          <a:bodyPr anchor="t" rtlCol="false" tIns="0" lIns="0" bIns="0" rIns="0">
            <a:spAutoFit/>
          </a:bodyPr>
          <a:lstStyle/>
          <a:p>
            <a:pPr algn="l" marL="0" indent="0" lvl="0">
              <a:lnSpc>
                <a:spcPts val="3640"/>
              </a:lnSpc>
            </a:pPr>
            <a:r>
              <a:rPr lang="en-US" sz="2600">
                <a:solidFill>
                  <a:srgbClr val="F6F2E5"/>
                </a:solidFill>
                <a:latin typeface="Public Sans"/>
                <a:ea typeface="Public Sans"/>
                <a:cs typeface="Public Sans"/>
                <a:sym typeface="Public Sans"/>
              </a:rPr>
              <a:t>if there is no such a crop that has the same label as original, our code takes center crop</a:t>
            </a:r>
          </a:p>
        </p:txBody>
      </p:sp>
      <p:sp>
        <p:nvSpPr>
          <p:cNvPr name="TextBox 14" id="14"/>
          <p:cNvSpPr txBox="true"/>
          <p:nvPr/>
        </p:nvSpPr>
        <p:spPr>
          <a:xfrm rot="0">
            <a:off x="12662893" y="5655627"/>
            <a:ext cx="4054401" cy="61277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04</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6F2E5"/>
        </a:solidFill>
      </p:bgPr>
    </p:bg>
    <p:spTree>
      <p:nvGrpSpPr>
        <p:cNvPr id="1" name=""/>
        <p:cNvGrpSpPr/>
        <p:nvPr/>
      </p:nvGrpSpPr>
      <p:grpSpPr>
        <a:xfrm>
          <a:off x="0" y="0"/>
          <a:ext cx="0" cy="0"/>
          <a:chOff x="0" y="0"/>
          <a:chExt cx="0" cy="0"/>
        </a:xfrm>
      </p:grpSpPr>
      <p:sp>
        <p:nvSpPr>
          <p:cNvPr name="TextBox 2" id="2"/>
          <p:cNvSpPr txBox="true"/>
          <p:nvPr/>
        </p:nvSpPr>
        <p:spPr>
          <a:xfrm rot="0">
            <a:off x="6936160" y="923925"/>
            <a:ext cx="4415680" cy="953135"/>
          </a:xfrm>
          <a:prstGeom prst="rect">
            <a:avLst/>
          </a:prstGeom>
        </p:spPr>
        <p:txBody>
          <a:bodyPr anchor="t" rtlCol="false" tIns="0" lIns="0" bIns="0" rIns="0">
            <a:spAutoFit/>
          </a:bodyPr>
          <a:lstStyle/>
          <a:p>
            <a:pPr algn="l" marL="0" indent="0" lvl="0">
              <a:lnSpc>
                <a:spcPts val="7839"/>
              </a:lnSpc>
            </a:pPr>
            <a:r>
              <a:rPr lang="en-US" b="true" sz="5600">
                <a:solidFill>
                  <a:srgbClr val="3B352E"/>
                </a:solidFill>
                <a:latin typeface="Libre Baskerville Bold"/>
                <a:ea typeface="Libre Baskerville Bold"/>
                <a:cs typeface="Libre Baskerville Bold"/>
                <a:sym typeface="Libre Baskerville Bold"/>
              </a:rPr>
              <a:t>Adventages</a:t>
            </a:r>
          </a:p>
        </p:txBody>
      </p:sp>
      <p:sp>
        <p:nvSpPr>
          <p:cNvPr name="TextBox 3" id="3"/>
          <p:cNvSpPr txBox="true"/>
          <p:nvPr/>
        </p:nvSpPr>
        <p:spPr>
          <a:xfrm rot="0">
            <a:off x="1028700" y="2802302"/>
            <a:ext cx="4776594" cy="1979545"/>
          </a:xfrm>
          <a:prstGeom prst="rect">
            <a:avLst/>
          </a:prstGeom>
        </p:spPr>
        <p:txBody>
          <a:bodyPr anchor="t" rtlCol="false" tIns="0" lIns="0" bIns="0" rIns="0">
            <a:spAutoFit/>
          </a:bodyPr>
          <a:lstStyle/>
          <a:p>
            <a:pPr algn="l" marL="0" indent="0" lvl="0">
              <a:lnSpc>
                <a:spcPts val="3978"/>
              </a:lnSpc>
            </a:pPr>
            <a:r>
              <a:rPr lang="en-US" sz="2841">
                <a:solidFill>
                  <a:srgbClr val="3B352E"/>
                </a:solidFill>
                <a:latin typeface="Public Sans"/>
                <a:ea typeface="Public Sans"/>
                <a:cs typeface="Public Sans"/>
                <a:sym typeface="Public Sans"/>
              </a:rPr>
              <a:t>we dont do clip fine tuning, attention rollout or other thinks that takes long time from us</a:t>
            </a:r>
          </a:p>
        </p:txBody>
      </p:sp>
      <p:sp>
        <p:nvSpPr>
          <p:cNvPr name="TextBox 4" id="4"/>
          <p:cNvSpPr txBox="true"/>
          <p:nvPr/>
        </p:nvSpPr>
        <p:spPr>
          <a:xfrm rot="0">
            <a:off x="795761" y="6048375"/>
            <a:ext cx="5242472" cy="2166114"/>
          </a:xfrm>
          <a:prstGeom prst="rect">
            <a:avLst/>
          </a:prstGeom>
        </p:spPr>
        <p:txBody>
          <a:bodyPr anchor="t" rtlCol="false" tIns="0" lIns="0" bIns="0" rIns="0">
            <a:spAutoFit/>
          </a:bodyPr>
          <a:lstStyle/>
          <a:p>
            <a:pPr algn="l">
              <a:lnSpc>
                <a:spcPts val="4366"/>
              </a:lnSpc>
            </a:pPr>
            <a:r>
              <a:rPr lang="en-US" sz="3119">
                <a:solidFill>
                  <a:srgbClr val="3B352E"/>
                </a:solidFill>
                <a:latin typeface="Public Sans"/>
                <a:ea typeface="Public Sans"/>
                <a:cs typeface="Public Sans"/>
                <a:sym typeface="Public Sans"/>
              </a:rPr>
              <a:t>Solution is simple and gives a good results</a:t>
            </a:r>
          </a:p>
          <a:p>
            <a:pPr algn="l">
              <a:lnSpc>
                <a:spcPts val="4366"/>
              </a:lnSpc>
            </a:pPr>
            <a:r>
              <a:rPr lang="en-US" sz="3119">
                <a:solidFill>
                  <a:srgbClr val="3B352E"/>
                </a:solidFill>
                <a:latin typeface="Public Sans"/>
                <a:ea typeface="Public Sans"/>
                <a:cs typeface="Public Sans"/>
                <a:sym typeface="Public Sans"/>
              </a:rPr>
              <a:t>Training → 76%</a:t>
            </a:r>
          </a:p>
          <a:p>
            <a:pPr algn="l" marL="0" indent="0" lvl="0">
              <a:lnSpc>
                <a:spcPts val="4366"/>
              </a:lnSpc>
              <a:spcBef>
                <a:spcPct val="0"/>
              </a:spcBef>
            </a:pPr>
            <a:r>
              <a:rPr lang="en-US" sz="3119">
                <a:solidFill>
                  <a:srgbClr val="3B352E"/>
                </a:solidFill>
                <a:latin typeface="Public Sans"/>
                <a:ea typeface="Public Sans"/>
                <a:cs typeface="Public Sans"/>
                <a:sym typeface="Public Sans"/>
              </a:rPr>
              <a:t>Test → 80%</a:t>
            </a:r>
          </a:p>
        </p:txBody>
      </p:sp>
      <p:sp>
        <p:nvSpPr>
          <p:cNvPr name="TextBox 5" id="5"/>
          <p:cNvSpPr txBox="true"/>
          <p:nvPr/>
        </p:nvSpPr>
        <p:spPr>
          <a:xfrm rot="0">
            <a:off x="8668140" y="3183302"/>
            <a:ext cx="4932053" cy="1026497"/>
          </a:xfrm>
          <a:prstGeom prst="rect">
            <a:avLst/>
          </a:prstGeom>
        </p:spPr>
        <p:txBody>
          <a:bodyPr anchor="t" rtlCol="false" tIns="0" lIns="0" bIns="0" rIns="0">
            <a:spAutoFit/>
          </a:bodyPr>
          <a:lstStyle/>
          <a:p>
            <a:pPr algn="l" marL="0" indent="0" lvl="0">
              <a:lnSpc>
                <a:spcPts val="4108"/>
              </a:lnSpc>
              <a:spcBef>
                <a:spcPct val="0"/>
              </a:spcBef>
            </a:pPr>
            <a:r>
              <a:rPr lang="en-US" sz="2934">
                <a:solidFill>
                  <a:srgbClr val="3B352E"/>
                </a:solidFill>
                <a:latin typeface="Public Sans"/>
                <a:ea typeface="Public Sans"/>
                <a:cs typeface="Public Sans"/>
                <a:sym typeface="Public Sans"/>
              </a:rPr>
              <a:t>code takes about 7 minute for sumbission.json creation</a:t>
            </a:r>
          </a:p>
        </p:txBody>
      </p:sp>
      <p:sp>
        <p:nvSpPr>
          <p:cNvPr name="TextBox 6" id="6"/>
          <p:cNvSpPr txBox="true"/>
          <p:nvPr/>
        </p:nvSpPr>
        <p:spPr>
          <a:xfrm rot="0">
            <a:off x="1028700" y="2072871"/>
            <a:ext cx="2696601" cy="61912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01</a:t>
            </a:r>
          </a:p>
        </p:txBody>
      </p:sp>
      <p:sp>
        <p:nvSpPr>
          <p:cNvPr name="TextBox 7" id="7"/>
          <p:cNvSpPr txBox="true"/>
          <p:nvPr/>
        </p:nvSpPr>
        <p:spPr>
          <a:xfrm rot="0">
            <a:off x="895964" y="5133975"/>
            <a:ext cx="2696601" cy="61912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02</a:t>
            </a:r>
          </a:p>
        </p:txBody>
      </p:sp>
      <p:sp>
        <p:nvSpPr>
          <p:cNvPr name="TextBox 8" id="8"/>
          <p:cNvSpPr txBox="true"/>
          <p:nvPr/>
        </p:nvSpPr>
        <p:spPr>
          <a:xfrm rot="0">
            <a:off x="8513281" y="2256202"/>
            <a:ext cx="2696601" cy="61277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03</a:t>
            </a:r>
          </a:p>
        </p:txBody>
      </p:sp>
      <p:sp>
        <p:nvSpPr>
          <p:cNvPr name="TextBox 9" id="9"/>
          <p:cNvSpPr txBox="true"/>
          <p:nvPr/>
        </p:nvSpPr>
        <p:spPr>
          <a:xfrm rot="0">
            <a:off x="8513281" y="5133975"/>
            <a:ext cx="2696601" cy="619125"/>
          </a:xfrm>
          <a:prstGeom prst="rect">
            <a:avLst/>
          </a:prstGeom>
        </p:spPr>
        <p:txBody>
          <a:bodyPr anchor="t" rtlCol="false" tIns="0" lIns="0" bIns="0" rIns="0">
            <a:spAutoFit/>
          </a:bodyPr>
          <a:lstStyle/>
          <a:p>
            <a:pPr algn="l" marL="0" indent="0" lvl="0">
              <a:lnSpc>
                <a:spcPts val="4800"/>
              </a:lnSpc>
            </a:pPr>
            <a:r>
              <a:rPr lang="en-US" sz="4000">
                <a:solidFill>
                  <a:srgbClr val="CBC8BA"/>
                </a:solidFill>
                <a:latin typeface="Libre Baskerville"/>
                <a:ea typeface="Libre Baskerville"/>
                <a:cs typeface="Libre Baskerville"/>
                <a:sym typeface="Libre Baskerville"/>
              </a:rPr>
              <a:t>04</a:t>
            </a:r>
          </a:p>
        </p:txBody>
      </p:sp>
      <p:sp>
        <p:nvSpPr>
          <p:cNvPr name="TextBox 10" id="10"/>
          <p:cNvSpPr txBox="true"/>
          <p:nvPr/>
        </p:nvSpPr>
        <p:spPr>
          <a:xfrm rot="0">
            <a:off x="8513281" y="6048375"/>
            <a:ext cx="5242472" cy="2710780"/>
          </a:xfrm>
          <a:prstGeom prst="rect">
            <a:avLst/>
          </a:prstGeom>
        </p:spPr>
        <p:txBody>
          <a:bodyPr anchor="t" rtlCol="false" tIns="0" lIns="0" bIns="0" rIns="0">
            <a:spAutoFit/>
          </a:bodyPr>
          <a:lstStyle/>
          <a:p>
            <a:pPr algn="l" marL="0" indent="0" lvl="0">
              <a:lnSpc>
                <a:spcPts val="4366"/>
              </a:lnSpc>
              <a:spcBef>
                <a:spcPct val="0"/>
              </a:spcBef>
            </a:pPr>
            <a:r>
              <a:rPr lang="en-US" sz="3119">
                <a:solidFill>
                  <a:srgbClr val="3B352E"/>
                </a:solidFill>
                <a:latin typeface="Public Sans"/>
                <a:ea typeface="Public Sans"/>
                <a:cs typeface="Public Sans"/>
                <a:sym typeface="Public Sans"/>
              </a:rPr>
              <a:t>This solution without “AI” part gives us better results than with “AI techniques”, so its just a programing, and it will work everywhere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DAHFz3IkwgA</dc:identifier>
  <dcterms:modified xsi:type="dcterms:W3CDTF">2011-08-01T06:04:30Z</dcterms:modified>
  <cp:revision>1</cp:revision>
  <dc:title>Pixel IOAI Solution</dc:title>
</cp:coreProperties>
</file>